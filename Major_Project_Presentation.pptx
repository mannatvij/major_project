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0" d="100"/>
          <a:sy n="120" d="100"/>
        </p:scale>
        <p:origin x="198" y="6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5902"/>
            <a:ext cx="12188952" cy="6858000"/>
          </a:xfrm>
          <a:prstGeom prst="rect">
            <a:avLst/>
          </a:prstGeom>
          <a:solidFill>
            <a:srgbClr val="0D2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0A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3200400"/>
          </a:xfrm>
          <a:prstGeom prst="rect">
            <a:avLst/>
          </a:prstGeom>
          <a:solidFill>
            <a:srgbClr val="12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</a:rPr>
              <a:t>Smart Healthcare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3172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64B5F6"/>
                </a:solidFill>
              </a:rPr>
              <a:t>Appointment System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3246120"/>
            <a:ext cx="5760720" cy="54864"/>
          </a:xfrm>
          <a:prstGeom prst="rect">
            <a:avLst/>
          </a:prstGeom>
          <a:solidFill>
            <a:srgbClr val="00B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340156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BBDEFB"/>
                </a:solidFill>
              </a:rPr>
              <a:t>MAJOR PROJECT 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958" y="3781044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Presented by:  Mannat Vij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958" y="4169664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 dirty="0">
                <a:solidFill>
                  <a:srgbClr val="BBDEFB"/>
                </a:solidFill>
              </a:rPr>
              <a:t>Under the Guidance of:  Dr. Krishna Kumar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D2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Index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BDEFB"/>
                </a:solidFill>
              </a:rPr>
              <a:t>Presentation Overview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00B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D2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574536"/>
            <a:ext cx="116128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BBDEFB"/>
                </a:solidFill>
              </a:rPr>
              <a:t>Smart Healthcare Appointment System  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417320"/>
            <a:ext cx="5760720" cy="1325880"/>
          </a:xfrm>
          <a:prstGeom prst="rect">
            <a:avLst/>
          </a:prstGeom>
          <a:solidFill>
            <a:srgbClr val="FFFFFF"/>
          </a:solidFill>
          <a:ln w="1524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21208" y="1581912"/>
            <a:ext cx="502920" cy="50292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21208" y="158191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1288" y="1527048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D2C54"/>
                </a:solidFill>
              </a:rPr>
              <a:t>Introduction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1288" y="1920240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55566"/>
                </a:solidFill>
              </a:rPr>
              <a:t>What the project is &amp; why it matters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971800"/>
            <a:ext cx="5760720" cy="1325880"/>
          </a:xfrm>
          <a:prstGeom prst="rect">
            <a:avLst/>
          </a:prstGeom>
          <a:solidFill>
            <a:srgbClr val="FFFFFF"/>
          </a:solidFill>
          <a:ln w="1524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21208" y="3136392"/>
            <a:ext cx="502920" cy="50292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1208" y="313639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1288" y="3081528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D2C54"/>
                </a:solidFill>
              </a:rPr>
              <a:t>Objectives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61288" y="3474720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55566"/>
                </a:solidFill>
              </a:rPr>
              <a:t>Goals and purpose of the system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526280"/>
            <a:ext cx="5760720" cy="1325880"/>
          </a:xfrm>
          <a:prstGeom prst="rect">
            <a:avLst/>
          </a:prstGeom>
          <a:solidFill>
            <a:srgbClr val="FFFFFF"/>
          </a:solidFill>
          <a:ln w="1524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21208" y="4690872"/>
            <a:ext cx="502920" cy="50292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21208" y="469087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1288" y="4636008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D2C54"/>
                </a:solidFill>
              </a:rPr>
              <a:t>Methodology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61288" y="5029200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55566"/>
                </a:solidFill>
              </a:rPr>
              <a:t>Development approach, APIs &amp; tools used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9360" y="1417320"/>
            <a:ext cx="5760720" cy="1325880"/>
          </a:xfrm>
          <a:prstGeom prst="rect">
            <a:avLst/>
          </a:prstGeom>
          <a:solidFill>
            <a:srgbClr val="FFFFFF"/>
          </a:solidFill>
          <a:ln w="1524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419088" y="1581912"/>
            <a:ext cx="502920" cy="50292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19088" y="158191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9168" y="1527048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D2C54"/>
                </a:solidFill>
              </a:rPr>
              <a:t>Progress &amp; Status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9168" y="1920240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55566"/>
                </a:solidFill>
              </a:rPr>
              <a:t>Planned vs. completed features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2971800"/>
            <a:ext cx="5760720" cy="1325880"/>
          </a:xfrm>
          <a:prstGeom prst="rect">
            <a:avLst/>
          </a:prstGeom>
          <a:solidFill>
            <a:srgbClr val="FFFFFF"/>
          </a:solidFill>
          <a:ln w="1524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419088" y="3136392"/>
            <a:ext cx="502920" cy="50292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19088" y="313639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59168" y="3081528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D2C54"/>
                </a:solidFill>
              </a:rPr>
              <a:t>Project Snapshots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9168" y="3474720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55566"/>
                </a:solidFill>
              </a:rPr>
              <a:t>Live screenshots from the running application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9360" y="4526280"/>
            <a:ext cx="5760720" cy="1325880"/>
          </a:xfrm>
          <a:prstGeom prst="rect">
            <a:avLst/>
          </a:prstGeom>
          <a:solidFill>
            <a:srgbClr val="FFFFFF"/>
          </a:solidFill>
          <a:ln w="1524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419088" y="4690872"/>
            <a:ext cx="502920" cy="50292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19088" y="469087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9168" y="4636008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D2C54"/>
                </a:solidFill>
              </a:rPr>
              <a:t>Future Scope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9168" y="5029200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55566"/>
                </a:solidFill>
              </a:rPr>
              <a:t>Planned enhancements and extensions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D2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BDEFB"/>
                </a:solidFill>
              </a:rPr>
              <a:t>About the Project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00B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D2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574536"/>
            <a:ext cx="116128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BBDEFB"/>
                </a:solidFill>
              </a:rPr>
              <a:t>Smart Healthcare Appointment System  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11274552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164592" cy="493776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1600200"/>
            <a:ext cx="10789920" cy="35932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50" dirty="0">
                <a:solidFill>
                  <a:srgbClr val="1A1A2E"/>
                </a:solidFill>
              </a:rPr>
              <a:t>In today's fast-paced world, the healthcare sector faces a critical challenge — the growing gap between patients seeking timely medical care and doctors managing overwhelming schedules through outdated, manual processes. Phone-based bookings, long waiting queues, and fragmented paper records result in missed consultations and poor patient experiences.
The Smart Healthcare Appointment System is a robust, full-stack web application engineered to </a:t>
            </a:r>
            <a:r>
              <a:rPr sz="1750" dirty="0" err="1">
                <a:solidFill>
                  <a:srgbClr val="1A1A2E"/>
                </a:solidFill>
              </a:rPr>
              <a:t>digitise</a:t>
            </a:r>
            <a:r>
              <a:rPr sz="1750" dirty="0">
                <a:solidFill>
                  <a:srgbClr val="1A1A2E"/>
                </a:solidFill>
              </a:rPr>
              <a:t> and streamline the complete appointment lifecycle. Built on a React.js frontend (Material-UI), a Spring Boot RESTful backend, and MongoDB as a flexible NoSQL data store, the platform empowers patients to discover specialist doctors, check real-time availability,</a:t>
            </a:r>
            <a:r>
              <a:rPr lang="en-US" sz="1750" dirty="0">
                <a:solidFill>
                  <a:srgbClr val="1A1A2E"/>
                </a:solidFill>
              </a:rPr>
              <a:t> have AI assistance</a:t>
            </a:r>
            <a:r>
              <a:rPr sz="1750" dirty="0">
                <a:solidFill>
                  <a:srgbClr val="1A1A2E"/>
                </a:solidFill>
              </a:rPr>
              <a:t> and book appointments instantly — while giving doctors full control over their schedules and patient queues.
Secured by industry-standard JWT-based authentication and role-based access control, the system represents a scalable, modern solution to one of healthcare's most persistent operational challenges.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5989320"/>
            <a:ext cx="1207008" cy="34747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5998464"/>
            <a:ext cx="11155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React.js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94560" y="5989320"/>
            <a:ext cx="1732788" cy="34747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240279" y="5998464"/>
            <a:ext cx="16413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Spring Boot 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91939" y="5989320"/>
            <a:ext cx="1101852" cy="34747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137659" y="5998464"/>
            <a:ext cx="10104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MongoDB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58383" y="5989320"/>
            <a:ext cx="1207008" cy="34747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04103" y="5998464"/>
            <a:ext cx="11155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JWT Auth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29983" y="5989320"/>
            <a:ext cx="1522476" cy="34747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75703" y="5998464"/>
            <a:ext cx="143103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 dirty="0">
                <a:solidFill>
                  <a:srgbClr val="FFFFFF"/>
                </a:solidFill>
              </a:rPr>
              <a:t>UI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7052" y="5989320"/>
            <a:ext cx="1207008" cy="34747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462772" y="5998464"/>
            <a:ext cx="11155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REST API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D2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BDEFB"/>
                </a:solidFill>
              </a:rPr>
              <a:t>Goals &amp; Purpose of the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00B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D2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574536"/>
            <a:ext cx="116128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BBDEFB"/>
                </a:solidFill>
              </a:rPr>
              <a:t>Smart Healthcare Appointment System 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417320"/>
            <a:ext cx="113385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658368" cy="89611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1480" y="1618488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463040"/>
            <a:ext cx="10241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D2C54"/>
                </a:solidFill>
              </a:rPr>
              <a:t>Digitise Healthcare Access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1819656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55566"/>
                </a:solidFill>
              </a:rPr>
              <a:t>Design a secure, role-based platform (Patient / Doctor / Admin) that eliminates manual appointment booking and centralises healthcare management in a single portal.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404872"/>
            <a:ext cx="113385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11480" y="2404872"/>
            <a:ext cx="658368" cy="89611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11480" y="2606040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2450591"/>
            <a:ext cx="10241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D2C54"/>
                </a:solidFill>
              </a:rPr>
              <a:t>Scalable Backend Architecture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807208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55566"/>
                </a:solidFill>
              </a:rPr>
              <a:t>Develop a production-grade RESTful API using Spring Boot 3 and MongoDB, with Swagger UI for centralised, interactive API documentation and endpoint management.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392424"/>
            <a:ext cx="113385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11480" y="3392424"/>
            <a:ext cx="658368" cy="89611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11480" y="3593592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438144"/>
            <a:ext cx="10241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D2C54"/>
                </a:solidFill>
              </a:rPr>
              <a:t>Industry-Standard Security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379476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55566"/>
                </a:solidFill>
              </a:rPr>
              <a:t>Implement JWT-based stateless authentication (HMAC-SHA256, 24-hr tokens) with BCrypt password hashing and Spring Security role guards to ensure data confidentiality.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4379976"/>
            <a:ext cx="113385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11480" y="4379976"/>
            <a:ext cx="658368" cy="89611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11480" y="4581144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4425696"/>
            <a:ext cx="10241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D2C54"/>
                </a:solidFill>
              </a:rPr>
              <a:t>Intelligent Doctor Discovery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4782312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55566"/>
                </a:solidFill>
              </a:rPr>
              <a:t>Enable real-time doctor search with specialisation-based filtering, paginated results, live availability slots, and a visual time-slot booking interface for patients.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5367528"/>
            <a:ext cx="113385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11480" y="5367528"/>
            <a:ext cx="658368" cy="89611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11480" y="5568696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20" y="5413248"/>
            <a:ext cx="10241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D2C54"/>
                </a:solidFill>
              </a:rPr>
              <a:t>End-to-End Appointment Lifecycle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88720" y="5769864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55566"/>
                </a:solidFill>
              </a:rPr>
              <a:t>Allow doctors to manage consultation queues (Pending → Confirmed → Completed / Cancelled), update schedules dynamically, and maintain professional profiles.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D2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BDEFB"/>
                </a:solidFill>
              </a:rPr>
              <a:t>Development Approach, APIs &amp; Tools Used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00B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D2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588252"/>
            <a:ext cx="116128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BBDEFB"/>
                </a:solidFill>
              </a:rPr>
              <a:t>Smart Healthcare Appointment System  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89888"/>
            <a:ext cx="566928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11480" y="1389888"/>
            <a:ext cx="438912" cy="1225296"/>
          </a:xfrm>
          <a:prstGeom prst="rect">
            <a:avLst/>
          </a:prstGeom>
          <a:solidFill>
            <a:srgbClr val="00B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1480" y="1773936"/>
            <a:ext cx="4389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143560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C54"/>
                </a:solidFill>
              </a:rPr>
              <a:t>Requirement Analysis &amp; Planning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1792224"/>
            <a:ext cx="50292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55566"/>
                </a:solidFill>
              </a:rPr>
              <a:t>Identified 3 user roles (Patient, Doctor, Admin), defined use cases, system architecture, API contracts, and data models.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706624"/>
            <a:ext cx="566928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11480" y="2706624"/>
            <a:ext cx="438912" cy="1225296"/>
          </a:xfrm>
          <a:prstGeom prst="rect">
            <a:avLst/>
          </a:prstGeom>
          <a:solidFill>
            <a:srgbClr val="00B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11480" y="3090672"/>
            <a:ext cx="4389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" y="2752344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C54"/>
                </a:solidFill>
              </a:rPr>
              <a:t>Environment Setup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" y="3108960"/>
            <a:ext cx="50292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55566"/>
                </a:solidFill>
              </a:rPr>
              <a:t>Java 17 · Spring Boot 3.2.3 · React 19 + Material-UI · MongoDB · Maven · Node.js 18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023360"/>
            <a:ext cx="566928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11480" y="4023360"/>
            <a:ext cx="438912" cy="1225296"/>
          </a:xfrm>
          <a:prstGeom prst="rect">
            <a:avLst/>
          </a:prstGeom>
          <a:solidFill>
            <a:srgbClr val="00B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11480" y="4407408"/>
            <a:ext cx="4389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" y="40690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C54"/>
                </a:solidFill>
              </a:rPr>
              <a:t>Database Design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" y="4425696"/>
            <a:ext cx="502920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 dirty="0">
                <a:solidFill>
                  <a:srgbClr val="555566"/>
                </a:solidFill>
              </a:rPr>
              <a:t>MongoDB collections: users, appointments, </a:t>
            </a:r>
            <a:r>
              <a:rPr sz="1150" b="0" i="0" dirty="0" err="1">
                <a:solidFill>
                  <a:srgbClr val="555566"/>
                </a:solidFill>
              </a:rPr>
              <a:t>chat_sessions</a:t>
            </a:r>
            <a:r>
              <a:rPr sz="1150" b="0" i="0" dirty="0">
                <a:solidFill>
                  <a:srgbClr val="555566"/>
                </a:solidFill>
              </a:rPr>
              <a:t>; Indexes: </a:t>
            </a:r>
            <a:r>
              <a:rPr sz="1150" b="0" i="0" dirty="0" err="1">
                <a:solidFill>
                  <a:srgbClr val="555566"/>
                </a:solidFill>
              </a:rPr>
              <a:t>patientId</a:t>
            </a:r>
            <a:r>
              <a:rPr sz="1150" b="0" i="0" dirty="0">
                <a:solidFill>
                  <a:srgbClr val="555566"/>
                </a:solidFill>
              </a:rPr>
              <a:t>, </a:t>
            </a:r>
            <a:r>
              <a:rPr sz="1150" b="0" i="0" dirty="0" err="1">
                <a:solidFill>
                  <a:srgbClr val="555566"/>
                </a:solidFill>
              </a:rPr>
              <a:t>doctorId</a:t>
            </a:r>
            <a:r>
              <a:rPr sz="1150" b="0" i="0" dirty="0">
                <a:solidFill>
                  <a:srgbClr val="555566"/>
                </a:solidFill>
              </a:rPr>
              <a:t>, email, username.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5340096"/>
            <a:ext cx="566928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11480" y="5340096"/>
            <a:ext cx="438912" cy="1225296"/>
          </a:xfrm>
          <a:prstGeom prst="rect">
            <a:avLst/>
          </a:prstGeom>
          <a:solidFill>
            <a:srgbClr val="00B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11480" y="5724144"/>
            <a:ext cx="4389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" y="5385816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C54"/>
                </a:solidFill>
              </a:rPr>
              <a:t>Backend API Development  (Spring Boot REST)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" y="5600700"/>
            <a:ext cx="50292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 dirty="0">
                <a:solidFill>
                  <a:srgbClr val="555566"/>
                </a:solidFill>
              </a:rPr>
              <a:t>Auth: POST /</a:t>
            </a:r>
            <a:r>
              <a:rPr sz="1150" b="0" i="0" dirty="0" err="1">
                <a:solidFill>
                  <a:srgbClr val="555566"/>
                </a:solidFill>
              </a:rPr>
              <a:t>api</a:t>
            </a:r>
            <a:r>
              <a:rPr sz="1150" b="0" i="0" dirty="0">
                <a:solidFill>
                  <a:srgbClr val="555566"/>
                </a:solidFill>
              </a:rPr>
              <a:t>/auth/register, /</a:t>
            </a:r>
            <a:r>
              <a:rPr sz="1150" b="0" i="0" dirty="0" err="1">
                <a:solidFill>
                  <a:srgbClr val="555566"/>
                </a:solidFill>
              </a:rPr>
              <a:t>api</a:t>
            </a:r>
            <a:r>
              <a:rPr sz="1150" b="0" i="0" dirty="0">
                <a:solidFill>
                  <a:srgbClr val="555566"/>
                </a:solidFill>
              </a:rPr>
              <a:t>/auth/login  |  Users: GET/PUT /</a:t>
            </a:r>
            <a:r>
              <a:rPr sz="1150" b="0" i="0" dirty="0" err="1">
                <a:solidFill>
                  <a:srgbClr val="555566"/>
                </a:solidFill>
              </a:rPr>
              <a:t>api</a:t>
            </a:r>
            <a:r>
              <a:rPr sz="1150" b="0" i="0" dirty="0">
                <a:solidFill>
                  <a:srgbClr val="555566"/>
                </a:solidFill>
              </a:rPr>
              <a:t>/users/profile, PUT /</a:t>
            </a:r>
            <a:r>
              <a:rPr sz="1150" b="0" i="0" dirty="0" err="1">
                <a:solidFill>
                  <a:srgbClr val="555566"/>
                </a:solidFill>
              </a:rPr>
              <a:t>api</a:t>
            </a:r>
            <a:r>
              <a:rPr sz="1150" b="0" i="0" dirty="0">
                <a:solidFill>
                  <a:srgbClr val="555566"/>
                </a:solidFill>
              </a:rPr>
              <a:t>/users/password  |  Doctors: GET /</a:t>
            </a:r>
            <a:r>
              <a:rPr sz="1150" b="0" i="0" dirty="0" err="1">
                <a:solidFill>
                  <a:srgbClr val="555566"/>
                </a:solidFill>
              </a:rPr>
              <a:t>api</a:t>
            </a:r>
            <a:r>
              <a:rPr sz="1150" b="0" i="0" dirty="0">
                <a:solidFill>
                  <a:srgbClr val="555566"/>
                </a:solidFill>
              </a:rPr>
              <a:t>/doctors, /</a:t>
            </a:r>
            <a:r>
              <a:rPr sz="1150" b="0" i="0" dirty="0" err="1">
                <a:solidFill>
                  <a:srgbClr val="555566"/>
                </a:solidFill>
              </a:rPr>
              <a:t>api</a:t>
            </a:r>
            <a:r>
              <a:rPr sz="1150" b="0" i="0" dirty="0">
                <a:solidFill>
                  <a:srgbClr val="555566"/>
                </a:solidFill>
              </a:rPr>
              <a:t>/doctors/search, /</a:t>
            </a:r>
            <a:r>
              <a:rPr sz="1150" b="0" i="0" dirty="0" err="1">
                <a:solidFill>
                  <a:srgbClr val="555566"/>
                </a:solidFill>
              </a:rPr>
              <a:t>api</a:t>
            </a:r>
            <a:r>
              <a:rPr sz="1150" b="0" i="0" dirty="0">
                <a:solidFill>
                  <a:srgbClr val="555566"/>
                </a:solidFill>
              </a:rPr>
              <a:t>/doctors/available, PUT /</a:t>
            </a:r>
            <a:r>
              <a:rPr sz="1150" b="0" i="0" dirty="0" err="1">
                <a:solidFill>
                  <a:srgbClr val="555566"/>
                </a:solidFill>
              </a:rPr>
              <a:t>api</a:t>
            </a:r>
            <a:r>
              <a:rPr sz="1150" b="0" i="0" dirty="0">
                <a:solidFill>
                  <a:srgbClr val="555566"/>
                </a:solidFill>
              </a:rPr>
              <a:t>/doctors/availability  |  Appointments: POST /</a:t>
            </a:r>
            <a:r>
              <a:rPr sz="1150" b="0" i="0" dirty="0" err="1">
                <a:solidFill>
                  <a:srgbClr val="555566"/>
                </a:solidFill>
              </a:rPr>
              <a:t>api</a:t>
            </a:r>
            <a:r>
              <a:rPr sz="1150" b="0" i="0" dirty="0">
                <a:solidFill>
                  <a:srgbClr val="555566"/>
                </a:solidFill>
              </a:rPr>
              <a:t>/appointments, GET /</a:t>
            </a:r>
            <a:r>
              <a:rPr sz="1150" b="0" i="0" dirty="0" err="1">
                <a:solidFill>
                  <a:srgbClr val="555566"/>
                </a:solidFill>
              </a:rPr>
              <a:t>api</a:t>
            </a:r>
            <a:r>
              <a:rPr sz="1150" b="0" i="0" dirty="0">
                <a:solidFill>
                  <a:srgbClr val="555566"/>
                </a:solidFill>
              </a:rPr>
              <a:t>/appointments, PUT /</a:t>
            </a:r>
            <a:r>
              <a:rPr sz="1150" b="0" i="0" dirty="0" err="1">
                <a:solidFill>
                  <a:srgbClr val="555566"/>
                </a:solidFill>
              </a:rPr>
              <a:t>api</a:t>
            </a:r>
            <a:r>
              <a:rPr sz="1150" b="0" i="0" dirty="0">
                <a:solidFill>
                  <a:srgbClr val="555566"/>
                </a:solidFill>
              </a:rPr>
              <a:t>/appointments/{id}/status, DELETE /</a:t>
            </a:r>
            <a:r>
              <a:rPr sz="1150" b="0" i="0" dirty="0" err="1">
                <a:solidFill>
                  <a:srgbClr val="555566"/>
                </a:solidFill>
              </a:rPr>
              <a:t>api</a:t>
            </a:r>
            <a:r>
              <a:rPr sz="1150" b="0" i="0" dirty="0">
                <a:solidFill>
                  <a:srgbClr val="555566"/>
                </a:solidFill>
              </a:rPr>
              <a:t>/appointments/{id}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91072" y="1389888"/>
            <a:ext cx="566928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291072" y="1389888"/>
            <a:ext cx="438912" cy="1225296"/>
          </a:xfrm>
          <a:prstGeom prst="rect">
            <a:avLst/>
          </a:prstGeom>
          <a:solidFill>
            <a:srgbClr val="00B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91072" y="1773936"/>
            <a:ext cx="4389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21424" y="143560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C54"/>
                </a:solidFill>
              </a:rPr>
              <a:t>API Documentation — Swagger UI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21424" y="1792224"/>
            <a:ext cx="50292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55566"/>
                </a:solidFill>
              </a:rPr>
              <a:t>Integrated Springdoc OpenAPI; all endpoints centralised &amp; testable at /swagger-ui.html — served as the single source of truth throughout development.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91072" y="2706624"/>
            <a:ext cx="566928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291072" y="2706624"/>
            <a:ext cx="438912" cy="1225296"/>
          </a:xfrm>
          <a:prstGeom prst="rect">
            <a:avLst/>
          </a:prstGeom>
          <a:solidFill>
            <a:srgbClr val="00B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291072" y="3090672"/>
            <a:ext cx="4389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21424" y="2752344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C54"/>
                </a:solidFill>
              </a:rPr>
              <a:t>Security Layer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21424" y="3108960"/>
            <a:ext cx="50292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55566"/>
                </a:solidFill>
              </a:rPr>
              <a:t>JWT (HMAC-SHA256, 24 hr expiry) · BCrypt password hashing · Spring Security filter chain · @PreAuthorize role-based guards per endpoint.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91072" y="4023360"/>
            <a:ext cx="566928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291072" y="4023360"/>
            <a:ext cx="438912" cy="1225296"/>
          </a:xfrm>
          <a:prstGeom prst="rect">
            <a:avLst/>
          </a:prstGeom>
          <a:solidFill>
            <a:srgbClr val="00B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291072" y="4407408"/>
            <a:ext cx="4389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21424" y="40690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C54"/>
                </a:solidFill>
              </a:rPr>
              <a:t>Frontend Development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21424" y="4425696"/>
            <a:ext cx="502920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 dirty="0">
                <a:solidFill>
                  <a:srgbClr val="555566"/>
                </a:solidFill>
              </a:rPr>
              <a:t>React SPA with protected routes </a:t>
            </a:r>
            <a:r>
              <a:rPr lang="en-US" sz="1150" b="0" i="0" dirty="0">
                <a:solidFill>
                  <a:srgbClr val="555566"/>
                </a:solidFill>
              </a:rPr>
              <a:t>· </a:t>
            </a:r>
            <a:r>
              <a:rPr sz="1150" b="0" i="0" dirty="0">
                <a:solidFill>
                  <a:srgbClr val="555566"/>
                </a:solidFill>
              </a:rPr>
              <a:t>Role-aware dashboards · Responsive layout (desktop sidebar + mobile bottom nav).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91072" y="5340096"/>
            <a:ext cx="566928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6291072" y="5340096"/>
            <a:ext cx="438912" cy="1225296"/>
          </a:xfrm>
          <a:prstGeom prst="rect">
            <a:avLst/>
          </a:prstGeom>
          <a:solidFill>
            <a:srgbClr val="00B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291072" y="5724144"/>
            <a:ext cx="4389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21424" y="5385816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C54"/>
                </a:solidFill>
              </a:rPr>
              <a:t>Testing at Each Stage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21424" y="5742432"/>
            <a:ext cx="50292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 dirty="0">
                <a:solidFill>
                  <a:srgbClr val="555566"/>
                </a:solidFill>
              </a:rPr>
              <a:t>Postman collection for manual API testing · Swagger UI for live verification · Playwright E2E test suite (153 test cases) for full-flow validation.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D2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Progress &amp; Current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BDEFB"/>
                </a:solidFill>
              </a:rPr>
              <a:t>What Was Planned vs. What Is Done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00B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D2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574536"/>
            <a:ext cx="116128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BBDEFB"/>
                </a:solidFill>
              </a:rPr>
              <a:t>Smart Healthcare Appointment System  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5394960" cy="5074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11480" y="1371600"/>
            <a:ext cx="5394960" cy="457200"/>
          </a:xfrm>
          <a:prstGeom prst="rect">
            <a:avLst/>
          </a:prstGeom>
          <a:solidFill>
            <a:srgbClr val="0D2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1480" y="137160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PLANNED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92024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  ›  User registration &amp; login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322576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  ›  Doctor search &amp; specialisation filter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724912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  ›  Appointment booking with time-slot picker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127248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  ›  Doctor availability management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529584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  ›  Role-based dashboards (Patient &amp; Doctor)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93192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  ›  Profile management (edit + password change)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334256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  ›  Appointment status lifecycle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736592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  ›  Responsive UI (desktop + mobile)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138928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  ›  AI chatbot triage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541264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  ›  SMS / Email notifications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55080" y="1371600"/>
            <a:ext cx="5394960" cy="50749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B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355080" y="1371600"/>
            <a:ext cx="5394960" cy="457200"/>
          </a:xfrm>
          <a:prstGeom prst="rect">
            <a:avLst/>
          </a:prstGeom>
          <a:solidFill>
            <a:srgbClr val="00B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355080" y="137160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COMPLETED / STATUS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192024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E7D32"/>
                </a:solidFill>
              </a:rPr>
              <a:t>  ✔  JWT-based auth (Patient &amp; Doctor)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2322576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E7D32"/>
                </a:solidFill>
              </a:rPr>
              <a:t>  ✔  Search by name + filter by specialisation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2724912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E7D32"/>
                </a:solidFill>
              </a:rPr>
              <a:t>  ✔  Visual slot picker + booking form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3127248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E7D32"/>
                </a:solidFill>
              </a:rPr>
              <a:t>  ✔  Add / remove slots dynamically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3529584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E7D32"/>
                </a:solidFill>
              </a:rPr>
              <a:t>  ✔  Separate Patient &amp; Doctor dashboards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393192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E7D32"/>
                </a:solidFill>
              </a:rPr>
              <a:t>  ✔  Edit profile + change password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4334256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E7D32"/>
                </a:solidFill>
              </a:rPr>
              <a:t>  ✔  Pending → Confirmed → Completed / Cancelled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4736592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E7D32"/>
                </a:solidFill>
              </a:rPr>
              <a:t>  ✔  Desktop sidebar + mobile bottom nav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46520" y="5138928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5C00"/>
                </a:solidFill>
              </a:rPr>
              <a:t>  ~  Data models ready, integration pending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5541264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62828"/>
                </a:solidFill>
              </a:rPr>
              <a:t>  ✗  Planned for next phase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D2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Project Snapshots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BDEFB"/>
                </a:solidFill>
              </a:rPr>
              <a:t>Login &amp; Registration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00B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D2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82271" y="6574536"/>
            <a:ext cx="116128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BBDEFB"/>
                </a:solidFill>
              </a:rPr>
              <a:t>Smart Healthcare Appointment System  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280160"/>
            <a:ext cx="5486400" cy="5120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screenshot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5880"/>
            <a:ext cx="5394960" cy="50292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11480" y="6355080"/>
            <a:ext cx="5394960" cy="320040"/>
          </a:xfrm>
          <a:prstGeom prst="rect">
            <a:avLst/>
          </a:prstGeom>
          <a:solidFill>
            <a:srgbClr val="0D2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1480" y="635508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Login Page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280160"/>
            <a:ext cx="5486400" cy="5120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screenshot_regi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25880"/>
            <a:ext cx="5394960" cy="50292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355080" y="6355080"/>
            <a:ext cx="5394960" cy="320040"/>
          </a:xfrm>
          <a:prstGeom prst="rect">
            <a:avLst/>
          </a:prstGeom>
          <a:solidFill>
            <a:srgbClr val="0D2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55080" y="635508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Register Page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D2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Project Snapshots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BDEFB"/>
                </a:solidFill>
              </a:rPr>
              <a:t>Patient Dashboard &amp; Doctor Discovery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00B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D2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574536"/>
            <a:ext cx="116128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BBDEFB"/>
                </a:solidFill>
              </a:rPr>
              <a:t>Smart Healthcare Appointment System  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280160"/>
            <a:ext cx="5486400" cy="5120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screenshot_patient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5880"/>
            <a:ext cx="5394960" cy="50292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11480" y="6355080"/>
            <a:ext cx="5394960" cy="320040"/>
          </a:xfrm>
          <a:prstGeom prst="rect">
            <a:avLst/>
          </a:prstGeom>
          <a:solidFill>
            <a:srgbClr val="0D2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1480" y="635508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Patient Dashboard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280160"/>
            <a:ext cx="5486400" cy="5120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screenshot_doctor_l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25880"/>
            <a:ext cx="5394960" cy="50292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355080" y="6355080"/>
            <a:ext cx="5394960" cy="320040"/>
          </a:xfrm>
          <a:prstGeom prst="rect">
            <a:avLst/>
          </a:prstGeom>
          <a:solidFill>
            <a:srgbClr val="0D2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55080" y="635508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Browse Doctors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D2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Project Snapshots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BDEFB"/>
                </a:solidFill>
              </a:rPr>
              <a:t>Appointment Booking &amp; Doctor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00B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D2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574536"/>
            <a:ext cx="116128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BBDEFB"/>
                </a:solidFill>
              </a:rPr>
              <a:t>Smart Healthcare Appointment System  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280160"/>
            <a:ext cx="5486400" cy="5120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screenshot_book_appoint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5880"/>
            <a:ext cx="5394960" cy="50292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11480" y="6355080"/>
            <a:ext cx="5394960" cy="320040"/>
          </a:xfrm>
          <a:prstGeom prst="rect">
            <a:avLst/>
          </a:prstGeom>
          <a:solidFill>
            <a:srgbClr val="0D2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1480" y="635508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Book Appointment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280160"/>
            <a:ext cx="5486400" cy="5120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screenshot_doctor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25880"/>
            <a:ext cx="5394960" cy="50292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355080" y="6355080"/>
            <a:ext cx="5394960" cy="320040"/>
          </a:xfrm>
          <a:prstGeom prst="rect">
            <a:avLst/>
          </a:prstGeom>
          <a:solidFill>
            <a:srgbClr val="0D2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55080" y="635508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Doctor Dashboard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D2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Project Snapshots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BDEFB"/>
                </a:solidFill>
              </a:rPr>
              <a:t>Doctor Management &amp; Swagger API Docs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00B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D2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574536"/>
            <a:ext cx="116128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BBDEFB"/>
                </a:solidFill>
              </a:rPr>
              <a:t>Smart Healthcare Appointment System  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280160"/>
            <a:ext cx="5486400" cy="5120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screenshot_doctor_appoint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5880"/>
            <a:ext cx="5394960" cy="50292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11480" y="6355080"/>
            <a:ext cx="5394960" cy="320040"/>
          </a:xfrm>
          <a:prstGeom prst="rect">
            <a:avLst/>
          </a:prstGeom>
          <a:solidFill>
            <a:srgbClr val="0D2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1480" y="635508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Doctor Appointments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280160"/>
            <a:ext cx="5486400" cy="5120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screenshot_swag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25880"/>
            <a:ext cx="5394960" cy="50292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355080" y="6355080"/>
            <a:ext cx="5394960" cy="320040"/>
          </a:xfrm>
          <a:prstGeom prst="rect">
            <a:avLst/>
          </a:prstGeom>
          <a:solidFill>
            <a:srgbClr val="0D2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55080" y="635508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Swagger UI — API Docs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D2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Future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BDEFB"/>
                </a:solidFill>
              </a:rPr>
              <a:t>Planned Enhancements &amp; Extensions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00B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D2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574536"/>
            <a:ext cx="116128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BBDEFB"/>
                </a:solidFill>
              </a:rPr>
              <a:t>Smart Healthcare Appointment System  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417320"/>
            <a:ext cx="54864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137160" cy="1188720"/>
          </a:xfrm>
          <a:prstGeom prst="rect">
            <a:avLst/>
          </a:prstGeom>
          <a:solidFill>
            <a:srgbClr val="00B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7512" y="1490472"/>
            <a:ext cx="5166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2C54"/>
                </a:solidFill>
              </a:rPr>
              <a:t>SMS &amp; Email Notifications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1856232"/>
            <a:ext cx="5166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55566"/>
                </a:solidFill>
              </a:rPr>
              <a:t>Automated alerts to patients &amp; doctors on booking, confirmation, and cancellation via SMS and email.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734056"/>
            <a:ext cx="54864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11480" y="2734056"/>
            <a:ext cx="137160" cy="1188720"/>
          </a:xfrm>
          <a:prstGeom prst="rect">
            <a:avLst/>
          </a:prstGeom>
          <a:solidFill>
            <a:srgbClr val="00B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7512" y="2807208"/>
            <a:ext cx="5166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2C54"/>
                </a:solidFill>
              </a:rPr>
              <a:t>AI Symptom Checker Chatbot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3172968"/>
            <a:ext cx="5166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55566"/>
                </a:solidFill>
              </a:rPr>
              <a:t>Patient describes symptoms; AI engine recommends the appropriate doctor specialisation before booking.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050791"/>
            <a:ext cx="54864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11480" y="4050791"/>
            <a:ext cx="137160" cy="1188720"/>
          </a:xfrm>
          <a:prstGeom prst="rect">
            <a:avLst/>
          </a:prstGeom>
          <a:solidFill>
            <a:srgbClr val="00B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67512" y="4123944"/>
            <a:ext cx="5166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2C54"/>
                </a:solidFill>
              </a:rPr>
              <a:t>Prescription Management Portal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" y="4489704"/>
            <a:ext cx="5166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55566"/>
                </a:solidFill>
              </a:rPr>
              <a:t>Doctors upload digital prescriptions post-consultation; patients access complete prescription history in one place.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1417320"/>
            <a:ext cx="54864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400800" y="1417320"/>
            <a:ext cx="137160" cy="1188720"/>
          </a:xfrm>
          <a:prstGeom prst="rect">
            <a:avLst/>
          </a:prstGeom>
          <a:solidFill>
            <a:srgbClr val="00B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656832" y="1490472"/>
            <a:ext cx="5166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2C54"/>
                </a:solidFill>
              </a:rPr>
              <a:t>Video Consultation (WebRTC)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56832" y="1856232"/>
            <a:ext cx="5166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 dirty="0">
                <a:solidFill>
                  <a:srgbClr val="555566"/>
                </a:solidFill>
              </a:rPr>
              <a:t>Built-in virtual appointment feature for remote consultations without leaving the platform.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2734056"/>
            <a:ext cx="54864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400800" y="2734056"/>
            <a:ext cx="137160" cy="1188720"/>
          </a:xfrm>
          <a:prstGeom prst="rect">
            <a:avLst/>
          </a:prstGeom>
          <a:solidFill>
            <a:srgbClr val="00B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656832" y="2807208"/>
            <a:ext cx="5166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 dirty="0">
                <a:solidFill>
                  <a:srgbClr val="0D2C54"/>
                </a:solidFill>
              </a:rPr>
              <a:t>Calendar Sync &amp; Reminders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56832" y="3172968"/>
            <a:ext cx="5166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55566"/>
                </a:solidFill>
              </a:rPr>
              <a:t>Google Calendar / iCal export so patients and doctors receive appointment reminders on their devices.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4050791"/>
            <a:ext cx="54864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400800" y="4050791"/>
            <a:ext cx="137160" cy="1188720"/>
          </a:xfrm>
          <a:prstGeom prst="rect">
            <a:avLst/>
          </a:prstGeom>
          <a:solidFill>
            <a:srgbClr val="00B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656832" y="4123944"/>
            <a:ext cx="5166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2C54"/>
                </a:solidFill>
              </a:rPr>
              <a:t>Admin Analytics Dashboard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56832" y="4489704"/>
            <a:ext cx="5166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55566"/>
                </a:solidFill>
              </a:rPr>
              <a:t>Visual reports on appointment trends, doctor performance metrics, and user growth statistics.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0A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2011680"/>
            <a:ext cx="11247120" cy="2560320"/>
          </a:xfrm>
          <a:prstGeom prst="rect">
            <a:avLst/>
          </a:prstGeom>
          <a:solidFill>
            <a:srgbClr val="12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0" y="3246120"/>
            <a:ext cx="4846320" cy="64008"/>
          </a:xfrm>
          <a:prstGeom prst="rect">
            <a:avLst/>
          </a:prstGeom>
          <a:solidFill>
            <a:srgbClr val="00B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34290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BBDEFB"/>
                </a:solidFill>
              </a:rPr>
              <a:t>Smart Healthcare Appointment System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</TotalTime>
  <Words>1085</Words>
  <Application>Microsoft Office PowerPoint</Application>
  <PresentationFormat>Custom</PresentationFormat>
  <Paragraphs>143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mannat vij</cp:lastModifiedBy>
  <cp:revision>2</cp:revision>
  <dcterms:created xsi:type="dcterms:W3CDTF">2013-01-27T09:14:16Z</dcterms:created>
  <dcterms:modified xsi:type="dcterms:W3CDTF">2026-03-30T14:28:29Z</dcterms:modified>
  <cp:category/>
</cp:coreProperties>
</file>